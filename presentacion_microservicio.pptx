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64008" cy="2560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34440"/>
            <a:ext cx="6858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 de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Productos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con Spring Boot, PostgreSQL y Docker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3611880"/>
            <a:ext cx="1874520" cy="347472"/>
          </a:xfrm>
          <a:prstGeom prst="rect">
            <a:avLst>
              <a:gd name="adj" fmla="val 13158"/>
            </a:avLst>
          </a:prstGeom>
          <a:solidFill>
            <a:srgbClr val="E67E22">
              <a:alpha val="30000"/>
            </a:srgbClr>
          </a:solidFill>
          <a:ln w="12700">
            <a:solidFill>
              <a:srgbClr val="E67E22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61188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3611880"/>
            <a:ext cx="1874520" cy="347472"/>
          </a:xfrm>
          <a:prstGeom prst="rect">
            <a:avLst>
              <a:gd name="adj" fmla="val 13158"/>
            </a:avLst>
          </a:prstGeom>
          <a:solidFill>
            <a:srgbClr val="E67E22">
              <a:alpha val="30000"/>
            </a:srgbClr>
          </a:solidFill>
          <a:ln w="12700">
            <a:solidFill>
              <a:srgbClr val="E67E22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361188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3611880"/>
            <a:ext cx="1874520" cy="347472"/>
          </a:xfrm>
          <a:prstGeom prst="rect">
            <a:avLst>
              <a:gd name="adj" fmla="val 13158"/>
            </a:avLst>
          </a:prstGeom>
          <a:solidFill>
            <a:srgbClr val="E67E22">
              <a:alpha val="30000"/>
            </a:srgbClr>
          </a:solidFill>
          <a:ln w="12700">
            <a:solidFill>
              <a:srgbClr val="E67E22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61188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3611880"/>
            <a:ext cx="1874520" cy="347472"/>
          </a:xfrm>
          <a:prstGeom prst="rect">
            <a:avLst>
              <a:gd name="adj" fmla="val 13158"/>
            </a:avLst>
          </a:prstGeom>
          <a:solidFill>
            <a:srgbClr val="E67E22">
              <a:alpha val="30000"/>
            </a:srgbClr>
          </a:solidFill>
          <a:ln w="12700">
            <a:solidFill>
              <a:srgbClr val="E67E22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361188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2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252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Microservicio RESTful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API REST completa con Spring Boot para gestión de productos en una tienda web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38528"/>
            <a:ext cx="64008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751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Persistencia con PostgreSQL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2311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Almacenar y gestionar datos de productos y usuarios en una base de datos relacional PostgreSQL 15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688336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88336"/>
            <a:ext cx="64008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24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Despliegue con Docker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980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Contenerizar el microservicio y la base de datos usando Docker Compose para portabilidad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438144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38144"/>
            <a:ext cx="64008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Seguridad JWT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7307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los endpoints con autenticación basada en tokens JWT (JSON Web Token)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187952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187952"/>
            <a:ext cx="64008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24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CRUD Completo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4805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operaciones Crear, Leer, Actualizar y Eliminar sobre el catálogo de productos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Dockerizada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3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1828800"/>
            <a:ext cx="1554480" cy="1280160"/>
          </a:xfrm>
          <a:prstGeom prst="rect">
            <a:avLst/>
          </a:prstGeom>
          <a:solidFill>
            <a:srgbClr val="F7F7F7"/>
          </a:solidFill>
          <a:ln w="12700">
            <a:solidFill>
              <a:srgbClr val="9CB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82880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</a:rPr>
              <a:t>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</a:rPr>
              <a:t>Cliente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</a:rPr>
              <a:t>(Postman / Web)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2468880"/>
            <a:ext cx="64008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21945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7E22"/>
                </a:solidFill>
              </a:rPr>
              <a:t>HTTP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77440" y="1188720"/>
            <a:ext cx="6492240" cy="3474720"/>
          </a:xfrm>
          <a:prstGeom prst="rect">
            <a:avLst/>
          </a:prstGeom>
          <a:solidFill>
            <a:srgbClr val="EBF5FB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7E22"/>
                </a:solidFill>
              </a:rPr>
              <a:t>🐳  Docker Compose Network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160020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600200"/>
            <a:ext cx="2560320" cy="38404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6002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🟢  techstore_api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205740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
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Puerto: 8080:8080
</a:t>
            </a:r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
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/api/auth/registro
/api/auth/login
/api/productos
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 ✅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12080" y="2926080"/>
            <a:ext cx="777240" cy="0"/>
          </a:xfrm>
          <a:prstGeom prst="line">
            <a:avLst/>
          </a:prstGeom>
          <a:noFill/>
          <a:ln w="254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65176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JDBC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35040" y="160020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67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600200"/>
            <a:ext cx="2560320" cy="384048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6002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🐘  techstore_db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205740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
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Puerto: 5432:5432
</a:t>
            </a:r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datos:
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techstore
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Usuario: admin
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✅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1 – Autenticación de Usuario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4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91440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34440" y="1005840"/>
            <a:ext cx="3657600" cy="32004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/api/auth/registro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63040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9961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Registro de usuario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7190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/api/auth/registro → 201 Created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121408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21408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579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Login y token JWT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 → 200 OK + Bearer token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779776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79776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1635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Protección de endpoints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035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requerido en Authorization header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438144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38144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747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Datos del usuario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6941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email, password (encriptado), rol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960120"/>
            <a:ext cx="3840480" cy="3977640"/>
          </a:xfrm>
          <a:prstGeom prst="rect">
            <a:avLst/>
          </a:prstGeom>
          <a:solidFill>
            <a:srgbClr val="1A202C"/>
          </a:solidFill>
          <a:ln w="12700">
            <a:solidFill>
              <a:srgbClr val="2D40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960120"/>
            <a:ext cx="384048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38928" y="1014984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0096" y="1014984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41264" y="1014984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9601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JSON Response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772400" y="1005840"/>
            <a:ext cx="100584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10058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201 Created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74920" y="1298448"/>
            <a:ext cx="3703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 /api/auth/registro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"nombre": "Admin",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"admin@test.com",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"password": "123456",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"rol": "USER"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201 Created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"admin@test.com",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"password": null,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"nombre": "Admin",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"rol": "USER"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 /api/auth/login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200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"token": "eyJhbGciO...",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"tipo": "Bearer",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"admin@test.com",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"nombre": "Admin",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"rol": "USER"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2 – Crear un Producto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5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91440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34440" y="1005840"/>
            <a:ext cx="3657600" cy="32004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63040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9961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Acción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7190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datos del producto al endpoint POST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121408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21408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579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Persistencia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guardado en PostgreSQL (techstore_db)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779776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79776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1635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🆔 ID generado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035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asigna id: 1 automáticamente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438144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38144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747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Producto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6941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Gamer — $1500.0 — Stock: 10 — Electrónica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960120"/>
            <a:ext cx="3840480" cy="3977640"/>
          </a:xfrm>
          <a:prstGeom prst="rect">
            <a:avLst/>
          </a:prstGeom>
          <a:solidFill>
            <a:srgbClr val="1A202C"/>
          </a:solidFill>
          <a:ln w="12700">
            <a:solidFill>
              <a:srgbClr val="2D40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960120"/>
            <a:ext cx="384048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38928" y="1014984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0096" y="1014984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41264" y="1014984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9601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JSON Response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772400" y="1005840"/>
            <a:ext cx="100584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10058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201 Created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74920" y="1298448"/>
            <a:ext cx="3703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 /api/productos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Authorization: Bearer eyJhbGc...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"nombre": "Laptop",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"descripcion": "Laptop gamer",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"precio": 1500.0,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"stock": 10,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"categoria": "Electronica",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"activo":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201 Created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"nombre": "Laptop",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"descripcion": "Laptop gamer",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"precio": 1500.0,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"stock": 10,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"categoria": "Electronica",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"activo":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3 – Obtener Productos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6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914400" cy="3200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34440" y="1005840"/>
            <a:ext cx="3657600" cy="32004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63040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9961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Acción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7190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todos los productos del catálogo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121408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21408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579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Fuente de datos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techstore_db — tabla productos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779776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79776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1635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Respuesta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035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JSON con todos los productos registrados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438144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38144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747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Dato confirmado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6941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id:1 — precio: 1500.0 — activo: true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960120"/>
            <a:ext cx="3840480" cy="3977640"/>
          </a:xfrm>
          <a:prstGeom prst="rect">
            <a:avLst/>
          </a:prstGeom>
          <a:solidFill>
            <a:srgbClr val="1A202C"/>
          </a:solidFill>
          <a:ln w="12700">
            <a:solidFill>
              <a:srgbClr val="2D40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960120"/>
            <a:ext cx="384048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38928" y="1014984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0096" y="1014984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41264" y="1014984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9601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JSON Response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772400" y="1005840"/>
            <a:ext cx="100584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10058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200 OK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74920" y="1298448"/>
            <a:ext cx="3703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/api/productos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Authorization: Bearer eyJhbGc...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200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"nombre": "Laptop",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"descripcion": "Laptop gamer",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"precio": 1500.0,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"stock": 10,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"categoria": "Electronica",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"activo":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Datos persistidos 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contenedor Docker: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techstore_db:5432/techstore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4 – Actualizar Precio (Promoción)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7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914400" cy="320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34440" y="1005840"/>
            <a:ext cx="3657600" cy="32004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/api/productos/1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63040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9961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Escenario de venta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7190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promoción — precio cambia de 1500 → 2000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121408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21408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579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Acción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/api/productos/1 con nuevo precio 2000.0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779776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79776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1635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Actualización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035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reflejado inmediatamente en PostgreSQL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438144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38144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747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Resultado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6941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— precio actualizado a $2000.0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960120"/>
            <a:ext cx="3840480" cy="3977640"/>
          </a:xfrm>
          <a:prstGeom prst="rect">
            <a:avLst/>
          </a:prstGeom>
          <a:solidFill>
            <a:srgbClr val="1A202C"/>
          </a:solidFill>
          <a:ln w="12700">
            <a:solidFill>
              <a:srgbClr val="2D40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960120"/>
            <a:ext cx="384048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38928" y="1014984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0096" y="1014984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41264" y="1014984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9601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JSON Response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772400" y="1005840"/>
            <a:ext cx="100584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10058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200 OK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74920" y="1298448"/>
            <a:ext cx="3703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PUT /api/productos/1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Authorization: Bearer eyJhbGc...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"nombre": "Laptop",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"descripcion": "Laptop gamer",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"precio": 2000.0,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"stock": 10,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"categoria": "Electronica",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"activo":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200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"nombre": "Laptop",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"descripcion": "Laptop gamer",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"precio": 2000.0,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"stock": 10,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"categoria": "Electronica",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"activo":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5 – Eliminar Producto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8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914400" cy="320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DELETE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34440" y="1005840"/>
            <a:ext cx="3657600" cy="32004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/api/productos/1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63040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9961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Escenario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7190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descontinuado se retira del catálogo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121408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21408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579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Acción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/api/productos/1 con JWT válido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779776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79776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1635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Base de datos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035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eliminado permanentemente de PostgreSQL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438144"/>
            <a:ext cx="4434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38144"/>
            <a:ext cx="54864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747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Resultado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6941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— producto id:1 eliminado del sistema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960120"/>
            <a:ext cx="3840480" cy="3977640"/>
          </a:xfrm>
          <a:prstGeom prst="rect">
            <a:avLst/>
          </a:prstGeom>
          <a:solidFill>
            <a:srgbClr val="1A202C"/>
          </a:solidFill>
          <a:ln w="12700">
            <a:solidFill>
              <a:srgbClr val="2D40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960120"/>
            <a:ext cx="384048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38928" y="1014984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0096" y="1014984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41264" y="1014984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9601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JSON Response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772400" y="1005840"/>
            <a:ext cx="100584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10058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200 OK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74920" y="1298448"/>
            <a:ext cx="3703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DELETE /api/productos/1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Authorization: Bearer eyJhbGc...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200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Producto eliminado exitosamente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 la base de datos PostgreSQL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/api/productos (verificación)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200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Lista vacía — producto id:1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ya no existe en techstore_db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Registro eliminado de: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PostgreSQL → tabla productos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con Docker Compose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9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06240" cy="804672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1430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garantiza que PostgreSQL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 listo antes de iniciar el servicio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2011680"/>
            <a:ext cx="4206240" cy="804672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1031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Docker interna: microservicio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conecta por nombre de servicio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971800"/>
            <a:ext cx="4206240" cy="804672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30632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comando levanta toda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infraestructura: docker compose up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931920"/>
            <a:ext cx="4206240" cy="804672"/>
          </a:xfrm>
          <a:prstGeom prst="rect">
            <a:avLst/>
          </a:prstGeom>
          <a:solidFill>
            <a:srgbClr val="F7F7F7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4023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inyectadas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seguramente en cada contenedor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960120"/>
            <a:ext cx="4206240" cy="3977640"/>
          </a:xfrm>
          <a:prstGeom prst="rect">
            <a:avLst/>
          </a:prstGeom>
          <a:solidFill>
            <a:srgbClr val="1A202C"/>
          </a:solidFill>
          <a:ln w="12700">
            <a:solidFill>
              <a:srgbClr val="2D40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960120"/>
            <a:ext cx="42062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18888" y="1014984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0056" y="1014984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21224" y="1014984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docker-compose.yml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1280160"/>
            <a:ext cx="406908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container_name: techstore_db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POSTGRES_DB: techstore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POSTGRES_USER: admin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POSTGRES_PASSWORD: admin123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"5432:5432"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healthcheck: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test: ["CMD-SHELL",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"pg_isready -U admin"]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interval: 5s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retries: 10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microservicio: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container_name: techstore_api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"8080:8080"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condition: service_healthy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926080"/>
            <a:ext cx="3657600" cy="3657600"/>
          </a:xfrm>
          <a:prstGeom prst="ellipse">
            <a:avLst/>
          </a:prstGeom>
          <a:solidFill>
            <a:srgbClr val="E67E22">
              <a:alpha val="12000"/>
            </a:srgbClr>
          </a:solidFill>
          <a:ln w="12700">
            <a:solidFill>
              <a:srgbClr val="E67E22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20040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292608" cy="29260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0789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implementado y probado con Postman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292608" cy="29260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37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7190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segura con tokens JWT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377440"/>
            <a:ext cx="292608" cy="29260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774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3591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PostgreSQL persistente en contenedor Docker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017520"/>
            <a:ext cx="292608" cy="29260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17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9992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 Spring Boot 3.5 completamente dockerizado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657600"/>
            <a:ext cx="292608" cy="29260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57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6393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orquesta ambos contenedores con healthcheck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4297680"/>
            <a:ext cx="292608" cy="29260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97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2793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disponible en localhost:8080 lista para producción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del Microservicio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11 / 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2286000" cy="530352"/>
          </a:xfrm>
          <a:prstGeom prst="rect">
            <a:avLst/>
          </a:prstGeom>
          <a:solidFill>
            <a:srgbClr val="E67E22">
              <a:alpha val="12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Controller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3167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ProductoController.java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0" y="117043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peticiones HTTP REST y retorna respuestas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01368"/>
            <a:ext cx="8595360" cy="68580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01368"/>
            <a:ext cx="73152" cy="68580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74520"/>
            <a:ext cx="2286000" cy="530352"/>
          </a:xfrm>
          <a:prstGeom prst="rect">
            <a:avLst/>
          </a:prstGeom>
          <a:solidFill>
            <a:srgbClr val="D35400">
              <a:alpha val="12000"/>
            </a:srgbClr>
          </a:solidFill>
          <a:ln w="12700">
            <a:solidFill>
              <a:srgbClr val="D35400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Service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1122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ProductoService · UsuarioService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0" y="196596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negocio, reglas y operaciones del dominio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596896"/>
            <a:ext cx="8595360" cy="68580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96896"/>
            <a:ext cx="73152" cy="6858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670048"/>
            <a:ext cx="2286000" cy="530352"/>
          </a:xfrm>
          <a:prstGeom prst="rect">
            <a:avLst/>
          </a:prstGeom>
          <a:solidFill>
            <a:srgbClr val="8E44AD">
              <a:alpha val="12000"/>
            </a:srgbClr>
          </a:solidFill>
          <a:ln w="12700">
            <a:solidFill>
              <a:srgbClr val="8E44AD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Repository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29077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ProductoRepository · UsuarioRepository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26080" y="276148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datos — extiende JpaRepository&lt;T, ID&gt;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392424"/>
            <a:ext cx="8595360" cy="68580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392424"/>
            <a:ext cx="73152" cy="6858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465576"/>
            <a:ext cx="2286000" cy="530352"/>
          </a:xfrm>
          <a:prstGeom prst="rect">
            <a:avLst/>
          </a:prstGeom>
          <a:solidFill>
            <a:srgbClr val="16A085">
              <a:alpha val="12000"/>
            </a:srgbClr>
          </a:solidFill>
          <a:ln w="12700">
            <a:solidFill>
              <a:srgbClr val="16A085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4655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Model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703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Producto.java · Usuario.java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926080" y="355701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JPA mapeadas a tablas en PostgreSQL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187952"/>
            <a:ext cx="8595360" cy="68580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187952"/>
            <a:ext cx="73152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261104"/>
            <a:ext cx="2286000" cy="530352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2611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4988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JwtUtil · JwtFilter · SecurityConfig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926080" y="435254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stateless con tokens JWT por cada request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Model — Entidades JPA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12 / 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931920"/>
          </a:xfrm>
          <a:prstGeom prst="rect">
            <a:avLst/>
          </a:prstGeom>
          <a:solidFill>
            <a:srgbClr val="1A202C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Producto.java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 @Table(name="producto")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 @NoArgsConstructor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     Long   — PK autoincrement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   String — NOT NULL (100)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 String — (255)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    Double — NOT NULL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     Integer — NOT NULL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 String — NOT NULL (50)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activo    Boolean — default: true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Eliminación LÓGICA: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activo = false (no borra BD)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rgbClr val="1A202C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 Usuario.java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 @Table(name="usuarios")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 @NoArgsConstructor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    Long   — PK autoincrement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   String — NOT NULL UNIQUE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String — encriptado BCrypt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  String — NOT NULL (50)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      String — default: "USER"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Implementa UserDetails vía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UsuarioService para Spring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Security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y Repositorios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13 / 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931920"/>
          </a:xfrm>
          <a:prstGeom prst="rect">
            <a:avLst/>
          </a:prstGeom>
          <a:solidFill>
            <a:srgbClr val="1A202C"/>
          </a:solidFill>
          <a:ln w="12700">
            <a:solidFill>
              <a:srgbClr val="16A0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📨  DTOs — Transferencia de Datos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LoginRequest.java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 String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Datos que envía el cliente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 hacer POST /api/auth/login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LoginResponse.java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token  String  (JWT generado)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tipo   String  ("Bearer")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nombre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    String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Respuesta con token JWT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rgbClr val="1A202C"/>
          </a:solidFill>
          <a:ln w="12700">
            <a:solidFill>
              <a:srgbClr val="D35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🗂️  Repository — Acceso a Datos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ProductoRepository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extends JpaRepository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&lt;Producto, Long&gt;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Hereda automáticamente: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findAll()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findById(id)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save(producto)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deleteById(id)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count(), existsById()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UsuarioRepository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extends JpaRepository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&lt;Usuario, Long&gt;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Método personalizado: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Optional&lt;Usuario&gt;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findByEmail(String email)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Controller — ProductoController.java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14 / 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68580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6858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0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/api/productos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335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todos los productos activos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801368"/>
            <a:ext cx="4206240" cy="68580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01368"/>
            <a:ext cx="64008" cy="6858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562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/api/productos/{id}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130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 un producto por su 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596896"/>
            <a:ext cx="4206240" cy="68580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96896"/>
            <a:ext cx="64008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/api/productos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nuevo producto → 201 Created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392424"/>
            <a:ext cx="4206240" cy="68580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392424"/>
            <a:ext cx="64008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47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/api/productos/{id}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721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precio, stock u otros campos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187952"/>
            <a:ext cx="4206240" cy="68580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187952"/>
            <a:ext cx="64008" cy="6858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428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/api/productos/{id}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5171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lógica (activo = false)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960120"/>
            <a:ext cx="4160520" cy="3977640"/>
          </a:xfrm>
          <a:prstGeom prst="rect">
            <a:avLst/>
          </a:prstGeom>
          <a:solidFill>
            <a:srgbClr val="1A202C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960120"/>
            <a:ext cx="4160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64608" y="1014984"/>
            <a:ext cx="109728" cy="1097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65776" y="1014984"/>
            <a:ext cx="109728" cy="1097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66944" y="1014984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ProductoController.java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28032" y="1280160"/>
            <a:ext cx="3977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@RequestMapping("/api/productos")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ProductoController {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ProductoService productoService;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ResponseEntity&lt;List&lt;Producto&gt;&gt;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listarProductos() { ... 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@PostMapping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ResponseEntity&lt;Producto&gt;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crearProducto(@RequestBody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Producto p) { ... 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@PutMapping("/{id}")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ResponseEntity&lt;Producto&gt;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actualizarProducto(...) { ... 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@DeleteMapping("/{id}")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ResponseEntity&lt;Void&gt;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eliminarProducto(...) { ...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Service — Lógica de Negocio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15 / 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931920"/>
          </a:xfrm>
          <a:prstGeom prst="rect">
            <a:avLst/>
          </a:prstGeom>
          <a:solidFill>
            <a:srgbClr val="1A202C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⚙️  ProductoService.java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ProductoService {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findAll()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productoRepository.findAll()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findById(Long id)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productoRepository.findById(id)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save(Producto p)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productoRepository.save(p)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eliminarLogico(Long id)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findById(id)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.setActivo(false)  ← clave!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.save(p)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No elimina el registro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Solo lo marca inactivo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rgbClr val="1A202C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⚙️  UsuarioService.java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 UserDetailsService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loadUserByUsername(email)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busca en BD por email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retorna UserDetails con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roles para Spring Security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registrar(Usuario u)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passwordEncoder.encode(pwd)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usuarioRepository.save(u)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password nunca en texto plano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buscarPorEmail(email)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usuarioRepository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.findByEmail(email)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usado por AuthController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 validar credenciales</a:t>
            </a:r>
            <a:endParaRPr lang="en-US" sz="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JwtUtil.java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16 / 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057400" cy="356616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143000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generarToken()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2148840"/>
            <a:ext cx="18745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JWT firmado con HMAC-SHA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email y roles como claims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 según jwt.expiration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1965960"/>
            <a:ext cx="155448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1448" y="1051560"/>
            <a:ext cx="2057400" cy="356616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143000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32888" y="173736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extraerEmail()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32888" y="2148840"/>
            <a:ext cx="18745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Parsea el token con la clave secreta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el Subject (email del usuario)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98848" y="1965960"/>
            <a:ext cx="155448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1051560"/>
            <a:ext cx="2057400" cy="356616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31536" y="1143000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45736" y="173736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validarToken()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45736" y="2148840"/>
            <a:ext cx="18745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email del token vs UserDetails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el token no haya expirado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11696" y="1965960"/>
            <a:ext cx="155448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67144" y="1051560"/>
            <a:ext cx="2057400" cy="356616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44384" y="1143000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44384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58584" y="173736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estaExpirado()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58584" y="2148840"/>
            <a:ext cx="18745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fecha de expiración del payload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true si ya venció el token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1A202C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application.properties:   jwt.secret=clave-super-secreta   |   jwt.expiration=86400000  (24 horas)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Filter + SecurityConfig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17 / 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931920"/>
          </a:xfrm>
          <a:prstGeom prst="rect">
            <a:avLst/>
          </a:prstGeom>
          <a:solidFill>
            <a:srgbClr val="1A202C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🔍  JwtAuthenticationFilter.java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OncePerRequestFilter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cada request HTTP: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Lee header Authorization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Extrae "Bearer &lt;token&gt;"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Llama jwtUtil.extraerEmail()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Carga usuario de BD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Llama jwtUtil.validarToken()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Si válido → autentica en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SecurityContextHolder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Continúa la cadena de filtros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no hay token o es inválido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filterChain.doFilter() sin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autenticar (acceso denegado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 el endpoint lo requiere)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rgbClr val="1A202C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🛡️  SecurityConfig.java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@EnableWebSecurity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Reglas definidas: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/api/auth/** → PÚBLICO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(registro y login sin token)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Cualquier otro endpoint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requiere JWT válido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Configuración: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CSRF deshabilitado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Sesión STATELESS (sin cookies)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DaoAuthenticationProvider con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BCrypt + UsuarioService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JwtFilter se ejecuta ANTES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B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 UsernamePasswordAuthFilter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Microservicio de Gestión de Productos</dc:title>
  <dc:subject>PptxGenJS Presentation</dc:subject>
  <dc:creator>TechStore</dc:creator>
  <cp:lastModifiedBy>TechStore</cp:lastModifiedBy>
  <cp:revision>1</cp:revision>
  <dcterms:created xsi:type="dcterms:W3CDTF">2026-05-15T20:21:09Z</dcterms:created>
  <dcterms:modified xsi:type="dcterms:W3CDTF">2026-05-15T20:21:09Z</dcterms:modified>
</cp:coreProperties>
</file>